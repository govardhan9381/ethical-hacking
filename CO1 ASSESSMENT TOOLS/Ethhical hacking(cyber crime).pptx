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709B2-88BC-4C52-A0CF-80B8E6659EA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A74321B-2AA1-41E2-B1DA-3A475D31F99F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0420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709B2-88BC-4C52-A0CF-80B8E6659EA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4321B-2AA1-41E2-B1DA-3A475D31F99F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7248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709B2-88BC-4C52-A0CF-80B8E6659EA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4321B-2AA1-41E2-B1DA-3A475D31F99F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5099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709B2-88BC-4C52-A0CF-80B8E6659EA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4321B-2AA1-41E2-B1DA-3A475D31F99F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0215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709B2-88BC-4C52-A0CF-80B8E6659EA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4321B-2AA1-41E2-B1DA-3A475D31F99F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5112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709B2-88BC-4C52-A0CF-80B8E6659EA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4321B-2AA1-41E2-B1DA-3A475D31F99F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4474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709B2-88BC-4C52-A0CF-80B8E6659EA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4321B-2AA1-41E2-B1DA-3A475D31F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09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709B2-88BC-4C52-A0CF-80B8E6659EA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4321B-2AA1-41E2-B1DA-3A475D31F99F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5146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CB5709B2-88BC-4C52-A0CF-80B8E6659EA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4321B-2AA1-41E2-B1DA-3A475D31F99F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0055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709B2-88BC-4C52-A0CF-80B8E6659EA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4321B-2AA1-41E2-B1DA-3A475D31F99F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6524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709B2-88BC-4C52-A0CF-80B8E6659EA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4321B-2AA1-41E2-B1DA-3A475D31F99F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8237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5709B2-88BC-4C52-A0CF-80B8E6659EA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A74321B-2AA1-41E2-B1DA-3A475D31F99F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5045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237E5-80E7-D759-7211-58C56D907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429" y="802298"/>
            <a:ext cx="10238423" cy="2541431"/>
          </a:xfrm>
        </p:spPr>
        <p:txBody>
          <a:bodyPr>
            <a:noAutofit/>
          </a:bodyPr>
          <a:lstStyle/>
          <a:p>
            <a:pPr algn="ctr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Cosmos Bank Cyber Attack (2018)</a:t>
            </a:r>
            <a:endParaRPr lang="en-IN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B87B60-87EE-8D07-4EAA-3FCA596EEA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9658" y="4256314"/>
            <a:ext cx="7968342" cy="1001486"/>
          </a:xfrm>
        </p:spPr>
        <p:txBody>
          <a:bodyPr>
            <a:noAutofit/>
          </a:bodyPr>
          <a:lstStyle/>
          <a:p>
            <a:pPr lvl="8"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N. Govardhan Reddy</a:t>
            </a:r>
          </a:p>
          <a:p>
            <a:pPr lvl="8"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 no: 192411137</a:t>
            </a:r>
          </a:p>
          <a:p>
            <a:pPr lvl="8"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Course: Ethical Hacking (ITA1411)</a:t>
            </a:r>
          </a:p>
        </p:txBody>
      </p:sp>
    </p:spTree>
    <p:extLst>
      <p:ext uri="{BB962C8B-B14F-4D97-AF65-F5344CB8AC3E}">
        <p14:creationId xmlns:p14="http://schemas.microsoft.com/office/powerpoint/2010/main" val="2694658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AB508-93D9-2037-2900-5262EF8F0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8CE0F-6168-A030-A175-DAAEDBC14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6658277" cy="3906097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Cosmos Bank Cyber Attack occurred in August 2018.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Cybercriminals targeted Cosmos Cooperative Bank, headquartered in Pune, India.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Attackers compromised the bank's ATM payment infrastructure using malware.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Fraudulent transactions were carried out in multiple countries.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Around ₹94 crore was stolen.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became one of India's most significant banking cybercrime cases.</a:t>
            </a:r>
          </a:p>
        </p:txBody>
      </p:sp>
      <p:pic>
        <p:nvPicPr>
          <p:cNvPr id="5" name="Picture 4" descr="Bank Logo PNG Image – Free Download | CleanPNG - CleanPNG">
            <a:extLst>
              <a:ext uri="{FF2B5EF4-FFF2-40B4-BE49-F238E27FC236}">
                <a16:creationId xmlns:a16="http://schemas.microsoft.com/office/drawing/2014/main" id="{464C53C8-EE3B-FF9B-5DD4-AB70BE954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0253" y="2841171"/>
            <a:ext cx="3074803" cy="216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674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A1867-A20D-0604-6D6F-2A3B9CC28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of the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CED9F-A4B9-9D51-893E-CAA58161F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6692296" cy="403774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Cosmos Cooperative Bank Ltd., Pune, Maharashtra.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parties involved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cybercriminal network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Money mules who withdrew cash from ATMs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and international banking/payment infrastructure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Pune Police Cyber Crime Cell and other investigating agencies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attackers reportedly used a coordinated international operation to execute fraudulent ATM withdrawals in a very short period.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BKstar ATM Piggy Bank for Kids - Talking Electronic Money Bank with Debit Cards &amp; Digital Coin Counter for Real Money, Boys Girls : Amazon.in: Toys &amp; Games">
            <a:extLst>
              <a:ext uri="{FF2B5EF4-FFF2-40B4-BE49-F238E27FC236}">
                <a16:creationId xmlns:a16="http://schemas.microsoft.com/office/drawing/2014/main" id="{508B4302-265B-9936-5DC6-8A0B1C69A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875" y="2015732"/>
            <a:ext cx="3808639" cy="388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540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C41FC-F761-8938-D100-5C113D008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Incident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E3209-105E-1A73-28BA-D427AAF9E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579" y="1983075"/>
            <a:ext cx="6865107" cy="3775468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attack took place mainly on 11 and 13 August 2018.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flow: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Malware Attack → Payment System Compromised → Fake Transaction Approvals → Thousands of ATM Withdrawals → Money Transferred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Attackers compromised the bank's payment infrastructure.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Fraudulent ATM transactions were authorized.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 was withdrawn using cloned cards in different countries.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fraudulent SWIFT transfer was also made.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loss was approximately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94.42 crore.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North Korea hand in Pune's Cosmos Bank cyber heist: UNSC panel | Pune News - The Times of India">
            <a:extLst>
              <a:ext uri="{FF2B5EF4-FFF2-40B4-BE49-F238E27FC236}">
                <a16:creationId xmlns:a16="http://schemas.microsoft.com/office/drawing/2014/main" id="{67327DB8-2AD6-DD84-EDCE-56548B2F4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714" y="2440928"/>
            <a:ext cx="4245428" cy="2859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781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E5EFA-46D8-1DE0-331E-7B9838518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Cybercrime / Legal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5BD8D-14EB-5448-5C26-212211AAA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1" y="2015732"/>
            <a:ext cx="7424059" cy="39605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case involved multiple types of cybercrime: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Unauthorized access to banking computer systems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Hacking and malware attacks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Computer-related fraud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Identity and card-data misuse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Unauthorized electronic financial transactions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cybercrime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Money laundering through money mules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attack demonstrated how cybercriminals can combine technical hacking with organized financial crime.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Cyber attack Vectors - Download Free High-Quality Vectors | Magnific (formerly Freepik)">
            <a:extLst>
              <a:ext uri="{FF2B5EF4-FFF2-40B4-BE49-F238E27FC236}">
                <a16:creationId xmlns:a16="http://schemas.microsoft.com/office/drawing/2014/main" id="{A566C545-CEB6-7133-92BF-C1D3E1596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0370" y="2015732"/>
            <a:ext cx="4094389" cy="3601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265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96E4B-8E1A-9299-1159-D93F9196A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Relevant IT Act Sections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F0BEA-ED0D-10C0-C2CF-CB8B20441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provisions of the Information Technology Act, 2000 are relevant to conduct of this nature: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A9043C9-50F4-9AF5-ECFD-C533982011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446676"/>
              </p:ext>
            </p:extLst>
          </p:nvPr>
        </p:nvGraphicFramePr>
        <p:xfrm>
          <a:off x="1164771" y="2754086"/>
          <a:ext cx="9535886" cy="3738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8515">
                  <a:extLst>
                    <a:ext uri="{9D8B030D-6E8A-4147-A177-3AD203B41FA5}">
                      <a16:colId xmlns:a16="http://schemas.microsoft.com/office/drawing/2014/main" val="2232185570"/>
                    </a:ext>
                  </a:extLst>
                </a:gridCol>
                <a:gridCol w="6727371">
                  <a:extLst>
                    <a:ext uri="{9D8B030D-6E8A-4147-A177-3AD203B41FA5}">
                      <a16:colId xmlns:a16="http://schemas.microsoft.com/office/drawing/2014/main" val="3721392122"/>
                    </a:ext>
                  </a:extLst>
                </a:gridCol>
              </a:tblGrid>
              <a:tr h="4198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Relevance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2039296"/>
                  </a:ext>
                </a:extLst>
              </a:tr>
              <a:tr h="724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Section 43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Unauthorized access, damage, or interference with computer systems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9691461"/>
                  </a:ext>
                </a:extLst>
              </a:tr>
              <a:tr h="724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Section 66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Computer-related offences committed dishonestly or fraudulently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1031039"/>
                  </a:ext>
                </a:extLst>
              </a:tr>
              <a:tr h="724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Section 66C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Identity theft and misuse of electronic credentials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065474"/>
                  </a:ext>
                </a:extLst>
              </a:tr>
              <a:tr h="724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Section 66D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Cheating by personation using computer resources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5936845"/>
                  </a:ext>
                </a:extLst>
              </a:tr>
              <a:tr h="4198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Section 72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Breach of confidentiality and privacy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8358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3876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5A9DA-B184-0FC5-6F0B-930D25515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Investigation and Evidence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F26E9-DE08-F15F-10A0-3844A8D47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6462335" cy="3862554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investigation involved: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ATM transaction records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Examination of bank server and network logs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CCTV footage from ATM locations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of suspicious bank accounts and money trails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people who withdrew and transferred stolen money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forensic investigation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Cooperation between law-enforcement and financial institutions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lmost Everything on Getting Started in Digital Forensics | by Emmaculate Okuku; CHFI | Medium">
            <a:extLst>
              <a:ext uri="{FF2B5EF4-FFF2-40B4-BE49-F238E27FC236}">
                <a16:creationId xmlns:a16="http://schemas.microsoft.com/office/drawing/2014/main" id="{F466863D-0F1C-B2CA-AA83-ABD41B207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3914" y="2423308"/>
            <a:ext cx="3846740" cy="258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010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8508-B499-7647-959B-3B46746A7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Court Decision / Legal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DDF54-5019-B097-97BD-3BCE9EC8C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suspects were arrested during the investigation.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case was prosecuted before a court in Pune.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2023, 11 accused were convicted in connection with the cyberattack.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case demonstrated that participants in a cybercrime operation including those involved in handling or withdrawing stolen money can face criminal prosecution.</a:t>
            </a:r>
          </a:p>
        </p:txBody>
      </p:sp>
    </p:spTree>
    <p:extLst>
      <p:ext uri="{BB962C8B-B14F-4D97-AF65-F5344CB8AC3E}">
        <p14:creationId xmlns:p14="http://schemas.microsoft.com/office/powerpoint/2010/main" val="1940665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AA6D8-106E-BFC8-0F9F-D864CFC5A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the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131BB-439A-0924-8D97-D5C627BA1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Cosmos Bank attack was important because it: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Exposed vulnerabilities in banking and payment infrastructure.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the international nature of modern cybercrime.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Highlighted the importance of real-time fraud detection.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awareness about cybersecurity in the Indian banking sector.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Showed the need for stronger monitoring of unusual transactions.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the importance of digital evidence in cybercrime investigations.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312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79EF7-83D6-D5A2-DCBF-42CB5C3F9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Lessons Learned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8263A-0D51-954B-FE09-5CA026E06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Lessons Learned: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Banks need strong cybersecurity and real-time monitoring.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security updates and audits are essential.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incident response can reduce financial losses.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cooperation is important in cybercrime investigations.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Cosmos Bank Cyber Attack showed how a sophisticated cyberattack can cause huge financial losses. It highlighted the importance of strong cybersecurity, digital investigation, and effective cyber laws in protecting the banking sector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802362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190</TotalTime>
  <Words>596</Words>
  <Application>Microsoft Office PowerPoint</Application>
  <PresentationFormat>Widescreen</PresentationFormat>
  <Paragraphs>82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Gill Sans MT</vt:lpstr>
      <vt:lpstr>Times New Roman</vt:lpstr>
      <vt:lpstr>Wingdings</vt:lpstr>
      <vt:lpstr>Gallery</vt:lpstr>
      <vt:lpstr>Cosmos Bank Cyber Attack (2018)</vt:lpstr>
      <vt:lpstr>Introduction</vt:lpstr>
      <vt:lpstr>Background of the Case</vt:lpstr>
      <vt:lpstr>Incident</vt:lpstr>
      <vt:lpstr>Cybercrime / Legal Issues</vt:lpstr>
      <vt:lpstr>Relevant IT Act Sections</vt:lpstr>
      <vt:lpstr>Investigation and Evidence</vt:lpstr>
      <vt:lpstr>Court Decision / Legal Outcome</vt:lpstr>
      <vt:lpstr>Impact of the Case</vt:lpstr>
      <vt:lpstr>Lessons Learned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NARAPAREDDY GOVARDHAN REDDY</dc:creator>
  <cp:lastModifiedBy>NARAPAREDDY GOVARDHAN REDDY</cp:lastModifiedBy>
  <cp:revision>3</cp:revision>
  <dcterms:created xsi:type="dcterms:W3CDTF">2026-07-15T05:46:36Z</dcterms:created>
  <dcterms:modified xsi:type="dcterms:W3CDTF">2026-07-17T08:00:02Z</dcterms:modified>
</cp:coreProperties>
</file>